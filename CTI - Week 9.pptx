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2"/>
  </p:notesMasterIdLst>
  <p:sldIdLst>
    <p:sldId id="283" r:id="rId2"/>
    <p:sldId id="273" r:id="rId3"/>
    <p:sldId id="281" r:id="rId4"/>
    <p:sldId id="272" r:id="rId5"/>
    <p:sldId id="258" r:id="rId6"/>
    <p:sldId id="268" r:id="rId7"/>
    <p:sldId id="282" r:id="rId8"/>
    <p:sldId id="259" r:id="rId9"/>
    <p:sldId id="279" r:id="rId10"/>
    <p:sldId id="266" r:id="rId11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5pPr>
    <a:lvl6pPr marL="2286000" algn="l" defTabSz="914400" rtl="0" eaLnBrk="1" latinLnBrk="0" hangingPunct="1"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6pPr>
    <a:lvl7pPr marL="2743200" algn="l" defTabSz="914400" rtl="0" eaLnBrk="1" latinLnBrk="0" hangingPunct="1"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7pPr>
    <a:lvl8pPr marL="3200400" algn="l" defTabSz="914400" rtl="0" eaLnBrk="1" latinLnBrk="0" hangingPunct="1"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8pPr>
    <a:lvl9pPr marL="3657600" algn="l" defTabSz="914400" rtl="0" eaLnBrk="1" latinLnBrk="0" hangingPunct="1">
      <a:defRPr sz="2400" b="1" kern="1200">
        <a:solidFill>
          <a:srgbClr val="00279F"/>
        </a:solidFill>
        <a:latin typeface="Batang" charset="-127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5226" autoAdjust="0"/>
  </p:normalViewPr>
  <p:slideViewPr>
    <p:cSldViewPr snapToGrid="0">
      <p:cViewPr varScale="1">
        <p:scale>
          <a:sx n="105" d="100"/>
          <a:sy n="105" d="100"/>
        </p:scale>
        <p:origin x="100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F3D2E-DD71-4DB6-9B8F-7959ECBA41E0}" type="datetimeFigureOut">
              <a:rPr lang="en-US" smtClean="0"/>
              <a:t>3/7/22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77314-8885-4E95-8F6B-1D3C6D964E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33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title"/>
          </p:nvPr>
        </p:nvSpPr>
        <p:spPr>
          <a:xfrm>
            <a:off x="892970" y="1151932"/>
            <a:ext cx="7358063" cy="232171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Shape 16"/>
          <p:cNvSpPr>
            <a:spLocks noGrp="1"/>
          </p:cNvSpPr>
          <p:nvPr>
            <p:ph type="body" sz="quarter" idx="1"/>
          </p:nvPr>
        </p:nvSpPr>
        <p:spPr>
          <a:xfrm>
            <a:off x="892970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120547" algn="ctr">
              <a:spcBef>
                <a:spcPts val="0"/>
              </a:spcBef>
              <a:buSzTx/>
              <a:buNone/>
              <a:defRPr sz="1650"/>
            </a:lvl2pPr>
            <a:lvl3pPr marL="0" indent="241093" algn="ctr">
              <a:spcBef>
                <a:spcPts val="0"/>
              </a:spcBef>
              <a:buSzTx/>
              <a:buNone/>
              <a:defRPr sz="1650"/>
            </a:lvl3pPr>
            <a:lvl4pPr marL="0" indent="361640" algn="ctr">
              <a:spcBef>
                <a:spcPts val="0"/>
              </a:spcBef>
              <a:buSzTx/>
              <a:buNone/>
              <a:defRPr sz="1650"/>
            </a:lvl4pPr>
            <a:lvl5pPr marL="0" indent="482186" algn="ctr">
              <a:spcBef>
                <a:spcPts val="0"/>
              </a:spcBef>
              <a:buSzTx/>
              <a:buNone/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7" name="Shape 17"/>
          <p:cNvSpPr>
            <a:spLocks noGrp="1"/>
          </p:cNvSpPr>
          <p:nvPr>
            <p:ph type="sldNum" sz="quarter" idx="2"/>
          </p:nvPr>
        </p:nvSpPr>
        <p:spPr>
          <a:xfrm>
            <a:off x="8309065" y="6585814"/>
            <a:ext cx="234035" cy="222173"/>
          </a:xfrm>
          <a:prstGeom prst="rect">
            <a:avLst/>
          </a:prstGeo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50824"/>
      </p:ext>
    </p:extLst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pic" idx="13"/>
          </p:nvPr>
        </p:nvSpPr>
        <p:spPr>
          <a:xfrm>
            <a:off x="1129607" y="446487"/>
            <a:ext cx="6875859" cy="4125515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body" sz="quarter" idx="1"/>
          </p:nvPr>
        </p:nvSpPr>
        <p:spPr>
          <a:xfrm>
            <a:off x="892970" y="4572000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120547" algn="ctr">
              <a:spcBef>
                <a:spcPts val="0"/>
              </a:spcBef>
              <a:buSzTx/>
              <a:buNone/>
              <a:defRPr sz="1650"/>
            </a:lvl2pPr>
            <a:lvl3pPr marL="0" indent="241093" algn="ctr">
              <a:spcBef>
                <a:spcPts val="0"/>
              </a:spcBef>
              <a:buSzTx/>
              <a:buNone/>
              <a:defRPr sz="1650"/>
            </a:lvl3pPr>
            <a:lvl4pPr marL="0" indent="361640" algn="ctr">
              <a:spcBef>
                <a:spcPts val="0"/>
              </a:spcBef>
              <a:buSzTx/>
              <a:buNone/>
              <a:defRPr sz="1650"/>
            </a:lvl4pPr>
            <a:lvl5pPr marL="0" indent="482186" algn="ctr">
              <a:spcBef>
                <a:spcPts val="0"/>
              </a:spcBef>
              <a:buSzTx/>
              <a:buNone/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27" name="Shape 27"/>
          <p:cNvSpPr>
            <a:spLocks noGrp="1"/>
          </p:cNvSpPr>
          <p:nvPr>
            <p:ph type="sldNum" sz="quarter" idx="2"/>
          </p:nvPr>
        </p:nvSpPr>
        <p:spPr>
          <a:xfrm>
            <a:off x="8232866" y="6585814"/>
            <a:ext cx="234035" cy="222173"/>
          </a:xfrm>
          <a:prstGeom prst="rect">
            <a:avLst/>
          </a:prstGeo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72413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title"/>
          </p:nvPr>
        </p:nvSpPr>
        <p:spPr>
          <a:xfrm>
            <a:off x="892970" y="2268143"/>
            <a:ext cx="7358063" cy="23217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Shape 35"/>
          <p:cNvSpPr>
            <a:spLocks noGrp="1"/>
          </p:cNvSpPr>
          <p:nvPr>
            <p:ph type="sldNum" sz="quarter" idx="2"/>
          </p:nvPr>
        </p:nvSpPr>
        <p:spPr>
          <a:xfrm>
            <a:off x="8369115" y="6588417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135860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pic" sz="half" idx="13"/>
          </p:nvPr>
        </p:nvSpPr>
        <p:spPr>
          <a:xfrm>
            <a:off x="4723806" y="446484"/>
            <a:ext cx="3750469" cy="5786438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Shape 44"/>
          <p:cNvSpPr>
            <a:spLocks noGrp="1"/>
          </p:cNvSpPr>
          <p:nvPr>
            <p:ph type="body" sz="quarter" idx="1"/>
          </p:nvPr>
        </p:nvSpPr>
        <p:spPr>
          <a:xfrm>
            <a:off x="669727" y="3348635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120547" algn="ctr">
              <a:spcBef>
                <a:spcPts val="0"/>
              </a:spcBef>
              <a:buSzTx/>
              <a:buNone/>
              <a:defRPr sz="1650"/>
            </a:lvl2pPr>
            <a:lvl3pPr marL="0" indent="241093" algn="ctr">
              <a:spcBef>
                <a:spcPts val="0"/>
              </a:spcBef>
              <a:buSzTx/>
              <a:buNone/>
              <a:defRPr sz="1650"/>
            </a:lvl3pPr>
            <a:lvl4pPr marL="0" indent="361640" algn="ctr">
              <a:spcBef>
                <a:spcPts val="0"/>
              </a:spcBef>
              <a:buSzTx/>
              <a:buNone/>
              <a:defRPr sz="1650"/>
            </a:lvl4pPr>
            <a:lvl5pPr marL="0" indent="482186" algn="ctr">
              <a:spcBef>
                <a:spcPts val="0"/>
              </a:spcBef>
              <a:buSzTx/>
              <a:buNone/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xfrm>
            <a:off x="8309065" y="6585814"/>
            <a:ext cx="234035" cy="222173"/>
          </a:xfrm>
          <a:prstGeom prst="rect">
            <a:avLst/>
          </a:prstGeo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196558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xfrm>
            <a:off x="457201" y="381000"/>
            <a:ext cx="8305799" cy="76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8309065" y="6585814"/>
            <a:ext cx="234035" cy="222173"/>
          </a:xfrm>
          <a:prstGeom prst="rect">
            <a:avLst/>
          </a:prstGeo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03931"/>
      </p:ext>
    </p:extLst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buChar char="‣"/>
            </a:lvl2pPr>
            <a:lvl3pPr>
              <a:buChar char="-"/>
            </a:lvl3pPr>
            <a:lvl4pPr>
              <a:buChar char="-"/>
            </a:lvl4pPr>
            <a:lvl5pPr>
              <a:buChar char="-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xfrm>
            <a:off x="8398372" y="6588417"/>
            <a:ext cx="234035" cy="222173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909993"/>
      </p:ext>
    </p:extLst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pic" sz="half" idx="13"/>
          </p:nvPr>
        </p:nvSpPr>
        <p:spPr>
          <a:xfrm>
            <a:off x="4723806" y="1830588"/>
            <a:ext cx="3750469" cy="4420195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1" name="Shape 71"/>
          <p:cNvSpPr>
            <a:spLocks noGrp="1"/>
          </p:cNvSpPr>
          <p:nvPr>
            <p:ph type="body" sz="half" idx="1"/>
          </p:nvPr>
        </p:nvSpPr>
        <p:spPr>
          <a:xfrm>
            <a:off x="669727" y="1830588"/>
            <a:ext cx="3750469" cy="4420195"/>
          </a:xfrm>
          <a:prstGeom prst="rect">
            <a:avLst/>
          </a:prstGeom>
        </p:spPr>
        <p:txBody>
          <a:bodyPr/>
          <a:lstStyle>
            <a:lvl1pPr marL="180820" indent="-180820">
              <a:spcBef>
                <a:spcPts val="1688"/>
              </a:spcBef>
              <a:defRPr sz="1500"/>
            </a:lvl1pPr>
            <a:lvl2pPr marL="361640" indent="-180820">
              <a:spcBef>
                <a:spcPts val="1688"/>
              </a:spcBef>
              <a:defRPr sz="1500"/>
            </a:lvl2pPr>
            <a:lvl3pPr marL="542459" indent="-180820">
              <a:spcBef>
                <a:spcPts val="1688"/>
              </a:spcBef>
              <a:defRPr sz="1500"/>
            </a:lvl3pPr>
            <a:lvl4pPr marL="723279" indent="-180820">
              <a:spcBef>
                <a:spcPts val="1688"/>
              </a:spcBef>
              <a:defRPr sz="1500"/>
            </a:lvl4pPr>
            <a:lvl5pPr marL="904099" indent="-180820">
              <a:spcBef>
                <a:spcPts val="1688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sldNum" sz="quarter" idx="2"/>
          </p:nvPr>
        </p:nvSpPr>
        <p:spPr>
          <a:xfrm>
            <a:off x="8369115" y="6588417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06905"/>
      </p:ext>
    </p:extLst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/>
          </p:cNvSpPr>
          <p:nvPr>
            <p:ph type="body" idx="1"/>
          </p:nvPr>
        </p:nvSpPr>
        <p:spPr>
          <a:xfrm>
            <a:off x="669728" y="892971"/>
            <a:ext cx="7804547" cy="5072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sldNum" sz="quarter" idx="2"/>
          </p:nvPr>
        </p:nvSpPr>
        <p:spPr>
          <a:xfrm>
            <a:off x="8369115" y="6588417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322641"/>
      </p:ext>
    </p:extLst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pic" sz="quarter" idx="13"/>
          </p:nvPr>
        </p:nvSpPr>
        <p:spPr>
          <a:xfrm>
            <a:off x="4723806" y="3580807"/>
            <a:ext cx="3750469" cy="2652117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88" name="Shape 88"/>
          <p:cNvSpPr>
            <a:spLocks noGrp="1"/>
          </p:cNvSpPr>
          <p:nvPr>
            <p:ph type="pic" sz="quarter" idx="14"/>
          </p:nvPr>
        </p:nvSpPr>
        <p:spPr>
          <a:xfrm>
            <a:off x="4728178" y="625080"/>
            <a:ext cx="3750469" cy="2652117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89" name="Shape 89"/>
          <p:cNvSpPr>
            <a:spLocks noGrp="1"/>
          </p:cNvSpPr>
          <p:nvPr>
            <p:ph type="pic" sz="half" idx="15"/>
          </p:nvPr>
        </p:nvSpPr>
        <p:spPr>
          <a:xfrm>
            <a:off x="669727" y="625078"/>
            <a:ext cx="3750469" cy="5607844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xfrm>
            <a:off x="8369115" y="6588417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417919"/>
      </p:ext>
    </p:extLst>
  </p:cSld>
  <p:clrMapOvr>
    <a:masterClrMapping/>
  </p:clrMapOvr>
  <p:transition spd="med"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body" sz="quarter" idx="13"/>
          </p:nvPr>
        </p:nvSpPr>
        <p:spPr>
          <a:xfrm>
            <a:off x="892970" y="4473774"/>
            <a:ext cx="7358063" cy="26833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2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Shape 98"/>
          <p:cNvSpPr>
            <a:spLocks noGrp="1"/>
          </p:cNvSpPr>
          <p:nvPr>
            <p:ph type="body" sz="quarter" idx="14"/>
          </p:nvPr>
        </p:nvSpPr>
        <p:spPr>
          <a:xfrm>
            <a:off x="892970" y="3049599"/>
            <a:ext cx="7358063" cy="3837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0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Shape 99"/>
          <p:cNvSpPr>
            <a:spLocks noGrp="1"/>
          </p:cNvSpPr>
          <p:nvPr>
            <p:ph type="sldNum" sz="quarter" idx="2"/>
          </p:nvPr>
        </p:nvSpPr>
        <p:spPr>
          <a:xfrm>
            <a:off x="8360184" y="6588417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46735"/>
      </p:ext>
    </p:extLst>
  </p:cSld>
  <p:clrMapOvr>
    <a:masterClrMapping/>
  </p:clrMapOvr>
  <p:transition spd="med"/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07" name="Shape 107"/>
          <p:cNvSpPr>
            <a:spLocks noGrp="1"/>
          </p:cNvSpPr>
          <p:nvPr>
            <p:ph type="sldNum" sz="quarter" idx="2"/>
          </p:nvPr>
        </p:nvSpPr>
        <p:spPr>
          <a:xfrm>
            <a:off x="8369115" y="6588417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79406"/>
      </p:ext>
    </p:extLst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6"/>
          <p:cNvGrpSpPr/>
          <p:nvPr/>
        </p:nvGrpSpPr>
        <p:grpSpPr>
          <a:xfrm>
            <a:off x="-17858" y="1083"/>
            <a:ext cx="8856715" cy="368363"/>
            <a:chOff x="0" y="0"/>
            <a:chExt cx="12596216" cy="523892"/>
          </a:xfrm>
        </p:grpSpPr>
        <p:sp>
          <p:nvSpPr>
            <p:cNvPr id="114" name="Shape 114"/>
            <p:cNvSpPr/>
            <p:nvPr/>
          </p:nvSpPr>
          <p:spPr>
            <a:xfrm>
              <a:off x="0" y="0"/>
              <a:ext cx="10883652" cy="523893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chemeClr val="accent1">
                    <a:hueOff val="273561"/>
                    <a:satOff val="2937"/>
                    <a:lumOff val="-22233"/>
                  </a:schemeClr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800"/>
            </a:p>
          </p:txBody>
        </p:sp>
        <p:pic>
          <p:nvPicPr>
            <p:cNvPr id="115" name="UNO_logo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59287" y="0"/>
              <a:ext cx="2136930" cy="5238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7" name="Shape 117"/>
          <p:cNvSpPr/>
          <p:nvPr/>
        </p:nvSpPr>
        <p:spPr>
          <a:xfrm>
            <a:off x="-17858" y="6591192"/>
            <a:ext cx="9179719" cy="262345"/>
          </a:xfrm>
          <a:prstGeom prst="rect">
            <a:avLst/>
          </a:prstGeom>
          <a:gradFill>
            <a:gsLst>
              <a:gs pos="0">
                <a:srgbClr val="2D6294"/>
              </a:gs>
              <a:gs pos="100000">
                <a:srgbClr val="000000"/>
              </a:gs>
            </a:gsLst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26788" tIns="26788" rIns="26788" bIns="26788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118" name="Shape 118"/>
          <p:cNvSpPr>
            <a:spLocks noGrp="1"/>
          </p:cNvSpPr>
          <p:nvPr>
            <p:ph type="sldNum" sz="quarter" idx="2"/>
          </p:nvPr>
        </p:nvSpPr>
        <p:spPr>
          <a:xfrm>
            <a:off x="8458482" y="6563320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8F8F8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20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16"/>
          <p:cNvGrpSpPr/>
          <p:nvPr/>
        </p:nvGrpSpPr>
        <p:grpSpPr>
          <a:xfrm>
            <a:off x="-17858" y="1083"/>
            <a:ext cx="8856715" cy="368363"/>
            <a:chOff x="0" y="0"/>
            <a:chExt cx="12596216" cy="523892"/>
          </a:xfrm>
        </p:grpSpPr>
        <p:sp>
          <p:nvSpPr>
            <p:cNvPr id="7" name="Shape 114"/>
            <p:cNvSpPr/>
            <p:nvPr/>
          </p:nvSpPr>
          <p:spPr>
            <a:xfrm>
              <a:off x="0" y="0"/>
              <a:ext cx="10883652" cy="523893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chemeClr val="accent1">
                    <a:hueOff val="273561"/>
                    <a:satOff val="2937"/>
                    <a:lumOff val="-22233"/>
                  </a:schemeClr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800"/>
            </a:p>
          </p:txBody>
        </p:sp>
        <p:pic>
          <p:nvPicPr>
            <p:cNvPr id="8" name="UNO_logo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59287" y="0"/>
              <a:ext cx="2136930" cy="5238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Shape 117"/>
          <p:cNvSpPr/>
          <p:nvPr/>
        </p:nvSpPr>
        <p:spPr>
          <a:xfrm>
            <a:off x="-17858" y="6591192"/>
            <a:ext cx="9179719" cy="262345"/>
          </a:xfrm>
          <a:prstGeom prst="rect">
            <a:avLst/>
          </a:prstGeom>
          <a:gradFill>
            <a:gsLst>
              <a:gs pos="0">
                <a:srgbClr val="2D6294"/>
              </a:gs>
              <a:gs pos="100000">
                <a:srgbClr val="000000"/>
              </a:gs>
            </a:gsLst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26788" tIns="26788" rIns="26788" bIns="26788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10" name="Shape 118"/>
          <p:cNvSpPr>
            <a:spLocks noGrp="1"/>
          </p:cNvSpPr>
          <p:nvPr>
            <p:ph type="sldNum" sz="quarter" idx="2"/>
          </p:nvPr>
        </p:nvSpPr>
        <p:spPr>
          <a:xfrm>
            <a:off x="8458482" y="6563320"/>
            <a:ext cx="234035" cy="2221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8F8F8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51890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09065" y="6585814"/>
            <a:ext cx="234035" cy="222173"/>
          </a:xfrm>
          <a:ln/>
        </p:spPr>
        <p:txBody>
          <a:bodyPr/>
          <a:lstStyle>
            <a:lvl1pPr>
              <a:defRPr/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703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09065" y="6585814"/>
            <a:ext cx="234035" cy="222173"/>
          </a:xfrm>
          <a:ln/>
        </p:spPr>
        <p:txBody>
          <a:bodyPr/>
          <a:lstStyle>
            <a:lvl1pPr>
              <a:defRPr/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30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Batang" charset="0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306060" y="6585814"/>
            <a:ext cx="234035" cy="222173"/>
          </a:xfrm>
        </p:spPr>
        <p:txBody>
          <a:bodyPr vert="horz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Batang" charset="-127"/>
                <a:ea typeface="ＭＳ Ｐゴシック" charset="-128"/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Batang" charset="0"/>
                <a:ea typeface="ＭＳ Ｐゴシック" charset="0"/>
                <a:cs typeface="ＭＳ Ｐゴシック" charset="0"/>
              </a:defRPr>
            </a:lvl1pPr>
          </a:lstStyle>
          <a:p>
            <a:fld id="{DD867148-10D2-42AA-986D-4CC57E5F3224}" type="datetime2">
              <a:rPr lang="en-US" smtClean="0"/>
              <a:t>Monday, March 7, 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1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1" y="381000"/>
            <a:ext cx="8305799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/>
          <p:nvPr/>
        </p:nvSpPr>
        <p:spPr>
          <a:xfrm>
            <a:off x="-17858" y="6591192"/>
            <a:ext cx="9179719" cy="262345"/>
          </a:xfrm>
          <a:prstGeom prst="rect">
            <a:avLst/>
          </a:prstGeom>
          <a:gradFill>
            <a:gsLst>
              <a:gs pos="0">
                <a:srgbClr val="B45B00"/>
              </a:gs>
              <a:gs pos="100000">
                <a:srgbClr val="000000"/>
              </a:gs>
            </a:gsLst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26788" tIns="26788" rIns="26788" bIns="26788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7" name="Shape 7"/>
          <p:cNvSpPr>
            <a:spLocks noGrp="1"/>
          </p:cNvSpPr>
          <p:nvPr>
            <p:ph type="body" idx="1"/>
          </p:nvPr>
        </p:nvSpPr>
        <p:spPr>
          <a:xfrm>
            <a:off x="457201" y="1219200"/>
            <a:ext cx="8305799" cy="5031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8" name="Shape 8"/>
          <p:cNvSpPr>
            <a:spLocks noGrp="1"/>
          </p:cNvSpPr>
          <p:nvPr>
            <p:ph type="sldNum" sz="quarter" idx="2"/>
          </p:nvPr>
        </p:nvSpPr>
        <p:spPr>
          <a:xfrm>
            <a:off x="8226133" y="6585814"/>
            <a:ext cx="234035" cy="222173"/>
          </a:xfrm>
          <a:prstGeom prst="rect">
            <a:avLst/>
          </a:prstGeom>
          <a:ln w="12700">
            <a:miter lim="400000"/>
          </a:ln>
        </p:spPr>
        <p:txBody>
          <a:bodyPr wrap="none" lIns="35717" tIns="35717" rIns="35717" bIns="35717">
            <a:spAutoFit/>
          </a:bodyPr>
          <a:lstStyle>
            <a:lvl1pPr>
              <a:defRPr sz="975">
                <a:solidFill>
                  <a:schemeClr val="bg1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162242" y="7158914"/>
            <a:ext cx="77009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8100" tIns="38100" rIns="38100" bIns="38100" spcCol="38100" anchor="ctr">
            <a:spAutoFit/>
          </a:bodyPr>
          <a:lstStyle/>
          <a:p>
            <a:pPr defTabSz="43815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700" b="0" dirty="0">
              <a:solidFill>
                <a:srgbClr val="000000"/>
              </a:solidFill>
              <a:latin typeface="+mn-lt"/>
              <a:ea typeface="+mn-ea"/>
              <a:sym typeface="Helvetica Ligh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6411402-2610-AE41-991F-BEDB97391ED9}"/>
              </a:ext>
            </a:extLst>
          </p:cNvPr>
          <p:cNvGrpSpPr/>
          <p:nvPr/>
        </p:nvGrpSpPr>
        <p:grpSpPr>
          <a:xfrm>
            <a:off x="-10044" y="359"/>
            <a:ext cx="9070558" cy="383591"/>
            <a:chOff x="-10044" y="357"/>
            <a:chExt cx="9070558" cy="383591"/>
          </a:xfrm>
        </p:grpSpPr>
        <p:sp>
          <p:nvSpPr>
            <p:cNvPr id="4" name="Shape 4"/>
            <p:cNvSpPr/>
            <p:nvPr/>
          </p:nvSpPr>
          <p:spPr>
            <a:xfrm>
              <a:off x="-10044" y="357"/>
              <a:ext cx="7652568" cy="368364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D07817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80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B54778-CE6C-9C4D-A0FB-F623C6804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0432" y="6369"/>
              <a:ext cx="1120082" cy="3775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564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  <p:hf hdr="0" ftr="0" dt="0"/>
  <p:txStyles>
    <p:titleStyle>
      <a:lvl1pPr marL="0" marR="0" indent="0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20547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41093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61640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82186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602732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723279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43826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64372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234396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468792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703188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937584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1171980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406376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640772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875168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109564" marR="0" indent="-234396" algn="l" defTabSz="308063" rtl="0" eaLnBrk="1" latinLnBrk="0" hangingPunct="1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20547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41093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61640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82186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602732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723279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43826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64372" algn="ctr" defTabSz="30806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7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learn.isu.edu/community/mod/url/view.php?id=14299" TargetMode="External"/><Relationship Id="rId2" Type="http://schemas.openxmlformats.org/officeDocument/2006/relationships/hyperlink" Target="https://elearn.isu.edu/community/mod/url/view.php?id=14298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elearn.isu.edu/community/mod/url/view.php?id=14301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CBB2D0DD-BB99-7544-A6C0-47A20C9619F8}"/>
              </a:ext>
            </a:extLst>
          </p:cNvPr>
          <p:cNvSpPr txBox="1">
            <a:spLocks/>
          </p:cNvSpPr>
          <p:nvPr/>
        </p:nvSpPr>
        <p:spPr>
          <a:xfrm>
            <a:off x="746935" y="482859"/>
            <a:ext cx="7650130" cy="1111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b">
            <a:normAutofit fontScale="97500"/>
          </a:bodyPr>
          <a:lstStyle>
            <a:lvl1pPr marL="0" marR="0" indent="0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20547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41093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61640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82186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602732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723279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843826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964372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fontAlgn="auto"/>
            <a:r>
              <a:rPr lang="en-US" sz="3600" kern="0" dirty="0">
                <a:solidFill>
                  <a:schemeClr val="tx1"/>
                </a:solidFill>
              </a:rPr>
              <a:t>CS 4417/5517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28094712-E770-6A48-B299-45F5CECC98FE}"/>
              </a:ext>
            </a:extLst>
          </p:cNvPr>
          <p:cNvSpPr txBox="1">
            <a:spLocks/>
          </p:cNvSpPr>
          <p:nvPr/>
        </p:nvSpPr>
        <p:spPr>
          <a:xfrm>
            <a:off x="892968" y="4729336"/>
            <a:ext cx="7358063" cy="794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b">
            <a:normAutofit/>
          </a:bodyPr>
          <a:lstStyle>
            <a:lvl1pPr marL="0" marR="0" indent="0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20547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41093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61640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82186" algn="ctr" defTabSz="3080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406376" marR="0" indent="-234396" algn="l" defTabSz="308063" rtl="0" eaLnBrk="1" latinLnBrk="0" hangingPunct="1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1640772" marR="0" indent="-234396" algn="l" defTabSz="308063" rtl="0" eaLnBrk="1" latinLnBrk="0" hangingPunct="1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1875168" marR="0" indent="-234396" algn="l" defTabSz="308063" rtl="0" eaLnBrk="1" latinLnBrk="0" hangingPunct="1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109564" marR="0" indent="-234396" algn="l" defTabSz="308063" rtl="0" eaLnBrk="1" latinLnBrk="0" hangingPunct="1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fontAlgn="auto"/>
            <a:r>
              <a:rPr lang="en-US" kern="0">
                <a:solidFill>
                  <a:schemeClr val="tx1"/>
                </a:solidFill>
              </a:rPr>
              <a:t>Minhaz F. Zibran</a:t>
            </a:r>
          </a:p>
          <a:p>
            <a:pPr fontAlgn="auto"/>
            <a:r>
              <a:rPr lang="en-US" kern="0">
                <a:solidFill>
                  <a:schemeClr val="tx1"/>
                </a:solidFill>
              </a:rPr>
              <a:t>Idaho State University</a:t>
            </a:r>
            <a:endParaRPr lang="en-US" kern="0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720A2B-194D-5940-8B62-2031935F0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260" y="1685053"/>
            <a:ext cx="5829478" cy="30442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251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330"/>
    </mc:Choice>
    <mc:Fallback xmlns="">
      <p:transition spd="slow" advTm="853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D1E3-EC33-4820-BCA1-607A38179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52346" y="6585814"/>
            <a:ext cx="147472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2C055BC-7463-4015-934C-C87A1947E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52" y="4480001"/>
            <a:ext cx="7949184" cy="166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/>
            <a:r>
              <a:rPr lang="en-US" dirty="0"/>
              <a:t>“</a:t>
            </a:r>
            <a:r>
              <a:rPr lang="en-US" sz="2000" dirty="0"/>
              <a:t>An increasingly digital world is no longer an abstract concept; it is a reality. As a systems thinker, I strongly believe that an enterprise must strive to synchronize its digital transformation strategy with a cybersecurity strategy.” </a:t>
            </a:r>
            <a:br>
              <a:rPr lang="en-US" sz="2000" dirty="0"/>
            </a:br>
            <a:r>
              <a:rPr lang="en-US" sz="2000" dirty="0"/>
              <a:t>					― Ludmila Morozova-Buss </a:t>
            </a:r>
            <a:endParaRPr lang="en-US" altLang="en-US" sz="20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684AF1E3-F524-464F-AA76-274D714E1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863" y="376150"/>
            <a:ext cx="5074274" cy="380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9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25">
        <p14:window dir="vert"/>
      </p:transition>
    </mc:Choice>
    <mc:Fallback xmlns="">
      <p:transition spd="slow" advTm="2002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69A20-9D03-4718-B79C-B5B33E3E8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52346" y="6585814"/>
            <a:ext cx="147472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E8FDE-EC6D-B644-B7FF-A6EB5318B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219200"/>
            <a:ext cx="7775448" cy="50315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Complete the following activities: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by Wednesday evening</a:t>
            </a:r>
          </a:p>
          <a:p>
            <a:pPr lvl="2"/>
            <a:r>
              <a:rPr lang="en-US" dirty="0"/>
              <a:t>Read Cyber Intelligence Handbook Section 3</a:t>
            </a:r>
          </a:p>
          <a:p>
            <a:pPr lvl="2"/>
            <a:r>
              <a:rPr lang="en-US" dirty="0"/>
              <a:t>Watch the Week 9 </a:t>
            </a:r>
            <a:r>
              <a:rPr lang="en-US" dirty="0" err="1"/>
              <a:t>Powerpoint</a:t>
            </a:r>
            <a:endParaRPr lang="en-US" dirty="0"/>
          </a:p>
          <a:p>
            <a:r>
              <a:rPr lang="en-US" b="1" dirty="0"/>
              <a:t>by Sunday evening</a:t>
            </a:r>
          </a:p>
          <a:p>
            <a:pPr lvl="2"/>
            <a:r>
              <a:rPr lang="en-US" dirty="0"/>
              <a:t>Complete the Week 9 Quiz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F78C49-DCB9-5F4C-A022-B5AF444A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81000"/>
            <a:ext cx="8305799" cy="762000"/>
          </a:xfrm>
        </p:spPr>
        <p:txBody>
          <a:bodyPr>
            <a:normAutofit/>
          </a:bodyPr>
          <a:lstStyle/>
          <a:p>
            <a:r>
              <a:rPr lang="en-US" dirty="0"/>
              <a:t>SOW for the Week: complete the followings</a:t>
            </a:r>
          </a:p>
        </p:txBody>
      </p:sp>
    </p:spTree>
    <p:extLst>
      <p:ext uri="{BB962C8B-B14F-4D97-AF65-F5344CB8AC3E}">
        <p14:creationId xmlns:p14="http://schemas.microsoft.com/office/powerpoint/2010/main" val="42132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6751">
        <p14:window dir="vert"/>
      </p:transition>
    </mc:Choice>
    <mc:Fallback xmlns="">
      <p:transition spd="slow" advTm="1675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EA82-3E65-4125-904C-ECD773C7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Weekly  Learning Effort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56BCD-A6AE-4415-B13F-F92E64E4C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52346" y="6585814"/>
            <a:ext cx="147472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5B279E-6E4F-4149-84C9-9BA6E1AEF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996" y="2070352"/>
            <a:ext cx="7186878" cy="3154787"/>
          </a:xfrm>
        </p:spPr>
        <p:txBody>
          <a:bodyPr>
            <a:normAutofit fontScale="77500" lnSpcReduction="20000"/>
          </a:bodyPr>
          <a:lstStyle/>
          <a:p>
            <a:pPr marL="557213" indent="-557213">
              <a:buFont typeface="+mj-lt"/>
              <a:buAutoNum type="arabicPeriod"/>
            </a:pPr>
            <a:r>
              <a:rPr lang="en-US" sz="2400" dirty="0"/>
              <a:t>Statement of Work (SOW)  – Readings and Posed Questions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dirty="0"/>
              <a:t>5 +/-2  major concepts or models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dirty="0"/>
              <a:t>Review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dirty="0"/>
              <a:t>Reminder for weekly quiz</a:t>
            </a:r>
          </a:p>
          <a:p>
            <a:pPr lvl="1"/>
            <a:r>
              <a:rPr lang="en-US" sz="2400" dirty="0"/>
              <a:t>Note for essay questions,  You should have an introductory thesis statement 3 to 7 supporting evidentiary sentences and a conclusion sentence. </a:t>
            </a:r>
            <a:r>
              <a:rPr lang="en-US" sz="2400" u="sng" dirty="0"/>
              <a:t>– Show your critical thinking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261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68"/>
    </mc:Choice>
    <mc:Fallback xmlns="">
      <p:transition spd="slow" advTm="2206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ABB8-6FF5-4AFB-8C81-3C7F37FA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 1- Section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7859-1855-4603-8202-688900FBB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712" y="2343150"/>
            <a:ext cx="7608634" cy="3038106"/>
          </a:xfrm>
        </p:spPr>
        <p:txBody>
          <a:bodyPr>
            <a:normAutofit fontScale="55000" lnSpcReduction="20000"/>
          </a:bodyPr>
          <a:lstStyle/>
          <a:p>
            <a:pPr marL="685800" lvl="1" indent="-342900">
              <a:buFont typeface="+mj-lt"/>
              <a:buAutoNum type="arabicPeriod"/>
            </a:pPr>
            <a:r>
              <a:rPr lang="en-US" sz="3150" dirty="0"/>
              <a:t>Importance of understanding cyber intelligence stakeholders relative to practices and priorities for the delivery of cyber intelligence products</a:t>
            </a:r>
          </a:p>
          <a:p>
            <a:pPr marL="685800" lvl="1" indent="-342900">
              <a:buFont typeface="+mj-lt"/>
              <a:buAutoNum type="arabicPeriod"/>
            </a:pPr>
            <a:endParaRPr lang="en-US" sz="3150" dirty="0"/>
          </a:p>
          <a:p>
            <a:pPr marL="685800" lvl="1" indent="-342900">
              <a:buFont typeface="+mj-lt"/>
              <a:buAutoNum type="arabicPeriod"/>
            </a:pPr>
            <a:r>
              <a:rPr lang="en-US" sz="3150" dirty="0"/>
              <a:t>Key issues and sample questions page 119 – 120</a:t>
            </a:r>
          </a:p>
          <a:p>
            <a:pPr marL="685800" lvl="1" indent="-342900">
              <a:buFont typeface="+mj-lt"/>
              <a:buAutoNum type="arabicPeriod"/>
            </a:pPr>
            <a:endParaRPr lang="en-US" sz="3150" dirty="0"/>
          </a:p>
          <a:p>
            <a:pPr marL="685800" lvl="1" indent="-342900">
              <a:buFont typeface="+mj-lt"/>
              <a:buAutoNum type="arabicPeriod"/>
            </a:pPr>
            <a:r>
              <a:rPr lang="en-US" sz="3150" dirty="0"/>
              <a:t>Self-assessment has a collaborative tool to help trade-offs between cost and proficiency.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B9071-78D3-4EA4-B340-74ED95494A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52346" y="6585814"/>
            <a:ext cx="147472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2489F8-E356-44CF-AE24-A0BDC47C98FA}"/>
              </a:ext>
            </a:extLst>
          </p:cNvPr>
          <p:cNvSpPr txBox="1">
            <a:spLocks/>
          </p:cNvSpPr>
          <p:nvPr/>
        </p:nvSpPr>
        <p:spPr>
          <a:xfrm>
            <a:off x="315469" y="1941772"/>
            <a:ext cx="6940739" cy="394467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ts val="28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1800" i="1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0798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2642">
        <p14:window dir="vert"/>
      </p:transition>
    </mc:Choice>
    <mc:Fallback xmlns="">
      <p:transition spd="slow" advTm="102642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8364-3C97-48A7-A33C-DE2524EE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 2 – Cyber Intelligence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C3CA1-CCAA-4678-84BA-CB9D99C1AD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52346" y="6585814"/>
            <a:ext cx="147472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55732F5-0EB3-4611-AC37-4834B4E848D8}"/>
              </a:ext>
            </a:extLst>
          </p:cNvPr>
          <p:cNvSpPr txBox="1">
            <a:spLocks/>
          </p:cNvSpPr>
          <p:nvPr/>
        </p:nvSpPr>
        <p:spPr>
          <a:xfrm>
            <a:off x="4572000" y="1843088"/>
            <a:ext cx="3527869" cy="34453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ts val="28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C7F1095-2AE7-47DB-A502-B63A8ABC5290}"/>
              </a:ext>
            </a:extLst>
          </p:cNvPr>
          <p:cNvSpPr txBox="1">
            <a:spLocks/>
          </p:cNvSpPr>
          <p:nvPr/>
        </p:nvSpPr>
        <p:spPr>
          <a:xfrm>
            <a:off x="429769" y="2050257"/>
            <a:ext cx="8197595" cy="34453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ts val="28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8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0" name="AutoShape 12">
            <a:hlinkClick r:id="rId2"/>
            <a:extLst>
              <a:ext uri="{FF2B5EF4-FFF2-40B4-BE49-F238E27FC236}">
                <a16:creationId xmlns:a16="http://schemas.microsoft.com/office/drawing/2014/main" id="{9A0CE323-4A05-4473-8385-856D0A91D2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781" y="-13716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21" name="AutoShape 13" descr="Students can manually mark this item complete: The KGB, The Computer, and Me (Clifford Stoll: The Cuckoo's Egg)">
            <a:extLst>
              <a:ext uri="{FF2B5EF4-FFF2-40B4-BE49-F238E27FC236}">
                <a16:creationId xmlns:a16="http://schemas.microsoft.com/office/drawing/2014/main" id="{CF8DE55A-F65C-450D-8E1B-D1AB35D71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250" y="-7429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22" name="AutoShape 14">
            <a:hlinkClick r:id="rId3"/>
            <a:extLst>
              <a:ext uri="{FF2B5EF4-FFF2-40B4-BE49-F238E27FC236}">
                <a16:creationId xmlns:a16="http://schemas.microsoft.com/office/drawing/2014/main" id="{A8707208-4119-4B70-9512-42CAF78AE2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781" y="-52625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23" name="AutoShape 15" descr="Students can manually mark this item complete: Chaos Computer Club - Web Site">
            <a:extLst>
              <a:ext uri="{FF2B5EF4-FFF2-40B4-BE49-F238E27FC236}">
                <a16:creationId xmlns:a16="http://schemas.microsoft.com/office/drawing/2014/main" id="{9AA5BB89-1B5C-4923-A24C-09A239E3DC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250" y="959644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24" name="AutoShape 17" descr="Students can manually mark this item complete: Mandiant APT 1 China Report (UNCLASSIFIED)">
            <a:extLst>
              <a:ext uri="{FF2B5EF4-FFF2-40B4-BE49-F238E27FC236}">
                <a16:creationId xmlns:a16="http://schemas.microsoft.com/office/drawing/2014/main" id="{56632639-B8EE-4E9C-8E66-97862C82F4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250" y="1794272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25" name="AutoShape 18">
            <a:hlinkClick r:id="rId4"/>
            <a:extLst>
              <a:ext uri="{FF2B5EF4-FFF2-40B4-BE49-F238E27FC236}">
                <a16:creationId xmlns:a16="http://schemas.microsoft.com/office/drawing/2014/main" id="{65534258-7773-46D0-B9A2-A4A3F83A78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781" y="201215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56424-F24F-4410-A3A8-0CFD227E10DF}"/>
              </a:ext>
            </a:extLst>
          </p:cNvPr>
          <p:cNvSpPr txBox="1"/>
          <p:nvPr/>
        </p:nvSpPr>
        <p:spPr>
          <a:xfrm>
            <a:off x="678802" y="2125266"/>
            <a:ext cx="77641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l">
              <a:buFont typeface="Wingdings" panose="05000000000000000000" pitchFamily="2" charset="2"/>
              <a:buChar char="§"/>
            </a:pPr>
            <a:r>
              <a:rPr lang="en-US" sz="2700" b="0" dirty="0">
                <a:solidFill>
                  <a:schemeClr val="tx1"/>
                </a:solidFill>
                <a:latin typeface="+mn-lt"/>
              </a:rPr>
              <a:t>Relationships between cost and proficiency in cyber intelligence as a slope curve — four distinct performance zones that represent proficiency bands.</a:t>
            </a:r>
          </a:p>
          <a:p>
            <a:pPr marL="428625" indent="-428625" algn="l">
              <a:buFont typeface="Wingdings" panose="05000000000000000000" pitchFamily="2" charset="2"/>
              <a:buChar char="§"/>
            </a:pPr>
            <a:endParaRPr lang="en-US" sz="2700" b="0" dirty="0">
              <a:solidFill>
                <a:schemeClr val="tx1"/>
              </a:solidFill>
              <a:latin typeface="+mn-lt"/>
            </a:endParaRPr>
          </a:p>
          <a:p>
            <a:pPr marL="428625" indent="-428625" algn="l">
              <a:buFont typeface="Wingdings" panose="05000000000000000000" pitchFamily="2" charset="2"/>
              <a:buChar char="§"/>
            </a:pPr>
            <a:r>
              <a:rPr lang="en-US" sz="2700" b="0" dirty="0">
                <a:solidFill>
                  <a:schemeClr val="tx1"/>
                </a:solidFill>
                <a:latin typeface="+mn-lt"/>
              </a:rPr>
              <a:t>The utility of proficiency bands as a basis for defining performance targets in planning and performance measurement</a:t>
            </a:r>
          </a:p>
        </p:txBody>
      </p:sp>
    </p:spTree>
    <p:extLst>
      <p:ext uri="{BB962C8B-B14F-4D97-AF65-F5344CB8AC3E}">
        <p14:creationId xmlns:p14="http://schemas.microsoft.com/office/powerpoint/2010/main" val="403193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108702">
        <p14:pan dir="u"/>
      </p:transition>
    </mc:Choice>
    <mc:Fallback xmlns="">
      <p:transition spd="slow" advTm="108702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39B3-BB5A-4CD5-A670-878D949D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429768"/>
            <a:ext cx="8915241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 3 – </a:t>
            </a:r>
            <a:r>
              <a:rPr lang="fr-FR" dirty="0"/>
              <a:t>Cyber intelligence establishment planning processes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D437F-C20D-4918-AFD4-FA39D8072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07" y="2226469"/>
            <a:ext cx="8107681" cy="3407733"/>
          </a:xfrm>
        </p:spPr>
        <p:txBody>
          <a:bodyPr>
            <a:normAutofit fontScale="92500"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2400" dirty="0"/>
              <a:t>Importance of shared understanding between customers and intelligence producers — what customers expect and what intelligence can provide.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400" dirty="0"/>
              <a:t>Aligning expectations with actual capabilities.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400" dirty="0"/>
              <a:t>Intelligence planning is in iterating and continuous process.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400" dirty="0"/>
              <a:t>Establishment of cyber intelligence planning process that is orderly, auditable and transparent.   Costs versus value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E540F-E7C3-42D5-AC46-5E2E89023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52346" y="6585814"/>
            <a:ext cx="147472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44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1705">
        <p14:window dir="vert"/>
      </p:transition>
    </mc:Choice>
    <mc:Fallback xmlns="">
      <p:transition spd="slow" advTm="61705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ABB8-6FF5-4AFB-8C81-3C7F37FA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17576"/>
            <a:ext cx="8305799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  4 — Three application approaches for improving cyber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7859-1855-4603-8202-688900FBB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73" y="2053901"/>
            <a:ext cx="7895145" cy="3327356"/>
          </a:xfrm>
        </p:spPr>
        <p:txBody>
          <a:bodyPr>
            <a:normAutofit/>
          </a:bodyPr>
          <a:lstStyle/>
          <a:p>
            <a:pPr marL="385763" indent="-3857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700" dirty="0">
                <a:solidFill>
                  <a:schemeClr val="tx1"/>
                </a:solidFill>
              </a:rPr>
              <a:t>Grow customer and practitioner proficiencies— simultaneously</a:t>
            </a:r>
          </a:p>
          <a:p>
            <a:pPr marL="385763" indent="-3857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700" dirty="0">
                <a:solidFill>
                  <a:schemeClr val="tx1"/>
                </a:solidFill>
              </a:rPr>
              <a:t>Prioritize customer proficiency development first - then later find cyber intelligence needs</a:t>
            </a:r>
          </a:p>
          <a:p>
            <a:pPr marL="385763" indent="-3857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700" dirty="0">
                <a:solidFill>
                  <a:schemeClr val="tx1"/>
                </a:solidFill>
              </a:rPr>
              <a:t>Prioritize acquisition of critical cyber intelligence to shape customer understanding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AC26D-31BC-487A-9C6C-739CAEB05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52346" y="6585814"/>
            <a:ext cx="147472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2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9700">
        <p14:window dir="vert"/>
      </p:transition>
    </mc:Choice>
    <mc:Fallback xmlns="">
      <p:transition spd="slow" advTm="497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E8D7-405B-4EC0-9562-9CE095F1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 5 – Development of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423EC-3487-47BF-88D3-E7EF6EF75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32" y="2191479"/>
            <a:ext cx="7357110" cy="3154787"/>
          </a:xfrm>
        </p:spPr>
        <p:txBody>
          <a:bodyPr>
            <a:normAutofit fontScale="92500" lnSpcReduction="10000"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3000" dirty="0"/>
              <a:t>Scenario as a case study framework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3000" dirty="0"/>
              <a:t>Self assessment results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3000" dirty="0"/>
              <a:t>Plan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3000" dirty="0"/>
              <a:t>Execution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3000" dirty="0"/>
              <a:t>Outcome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DC327-4515-460D-B2B5-354DB26CBC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14675" y="6585814"/>
            <a:ext cx="222814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2642">
        <p14:window dir="vert"/>
      </p:transition>
    </mc:Choice>
    <mc:Fallback xmlns="">
      <p:transition spd="slow" advTm="10264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B4C3-6DB7-4F47-AE60-D7840F9E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ECF7E-D9FC-467D-BB33-316F2BF0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100" dirty="0"/>
              <a:t>SOW for week is posed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100" dirty="0"/>
              <a:t>Concepts – introduced in relation to the syllabus and the assigned readings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100" dirty="0"/>
              <a:t>Posed questions for reading and reflection – (in week’s quiz – numbers and time)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100" dirty="0"/>
              <a:t>Weekly Quiz – complete this before next week class – everything in quizzes are open book, notes and is </a:t>
            </a:r>
            <a:r>
              <a:rPr lang="en-US" sz="2100" u="sng" dirty="0"/>
              <a:t>timed (1 hour)</a:t>
            </a:r>
            <a:r>
              <a:rPr lang="en-US" sz="21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100" u="dbl" dirty="0"/>
              <a:t>Notice about the week’s quiz </a:t>
            </a:r>
            <a:r>
              <a:rPr lang="en-US" sz="2100" dirty="0"/>
              <a:t>– </a:t>
            </a:r>
            <a:r>
              <a:rPr lang="en-US" sz="2100" dirty="0">
                <a:solidFill>
                  <a:srgbClr val="FF0000"/>
                </a:solidFill>
              </a:rPr>
              <a:t>~ random essay questions </a:t>
            </a:r>
            <a:r>
              <a:rPr lang="en-US" sz="2100" dirty="0"/>
              <a:t>– some critical thinking - essay – category  - plan your time – </a:t>
            </a:r>
            <a:r>
              <a:rPr lang="en-US" sz="2100" dirty="0">
                <a:solidFill>
                  <a:srgbClr val="FF0000"/>
                </a:solidFill>
              </a:rPr>
              <a:t>1 hour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BC112-8098-45E2-B530-701F521BE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14675" y="6585814"/>
            <a:ext cx="222814" cy="222173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1DE21-1254-144E-B5ED-A4EB1AA5B106}"/>
              </a:ext>
            </a:extLst>
          </p:cNvPr>
          <p:cNvSpPr txBox="1"/>
          <p:nvPr/>
        </p:nvSpPr>
        <p:spPr>
          <a:xfrm>
            <a:off x="1387634" y="6189742"/>
            <a:ext cx="6368731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584200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Acknowledgement: This slides are adapted based on the work of Dr. Larry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Leibrock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1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404">
        <p14:window dir="vert"/>
      </p:transition>
    </mc:Choice>
    <mc:Fallback xmlns="">
      <p:transition spd="slow" advTm="30404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ISU_Them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SU_Theme" id="{B0A98373-3098-D847-8A33-8D6777FEB3C2}" vid="{EEBA43D9-8200-9242-9552-E38BBC3C19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ISU_Theme</Template>
  <TotalTime>1465</TotalTime>
  <Words>466</Words>
  <Application>Microsoft Macintosh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Batang</vt:lpstr>
      <vt:lpstr>Arial</vt:lpstr>
      <vt:lpstr>Calibri</vt:lpstr>
      <vt:lpstr>Helvetica Light</vt:lpstr>
      <vt:lpstr>Wingdings</vt:lpstr>
      <vt:lpstr>Wingdings 2</vt:lpstr>
      <vt:lpstr>ISU_Theme</vt:lpstr>
      <vt:lpstr>PowerPoint Presentation</vt:lpstr>
      <vt:lpstr>PowerPoint Presentation</vt:lpstr>
      <vt:lpstr>SOW for the Week: complete the followings</vt:lpstr>
      <vt:lpstr>Overview of Weekly  Learning Effort</vt:lpstr>
      <vt:lpstr>Concept 1- Section 3</vt:lpstr>
      <vt:lpstr>Concept 2 – Cyber Intelligence Economics</vt:lpstr>
      <vt:lpstr>Concept 3 – Cyber intelligence establishment planning processes</vt:lpstr>
      <vt:lpstr>Concept  4 — Three application approaches for improving cyber intelligence</vt:lpstr>
      <vt:lpstr>Concept 5 – Development of scenarios</vt:lpstr>
      <vt:lpstr>Class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Threat Intelligence</dc:title>
  <dc:creator>larry</dc:creator>
  <cp:lastModifiedBy>Minhaz Zibran</cp:lastModifiedBy>
  <cp:revision>58</cp:revision>
  <dcterms:created xsi:type="dcterms:W3CDTF">2020-09-16T23:37:08Z</dcterms:created>
  <dcterms:modified xsi:type="dcterms:W3CDTF">2022-03-07T18:37:09Z</dcterms:modified>
</cp:coreProperties>
</file>